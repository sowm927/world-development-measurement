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9"/>
  </p:notesMasterIdLst>
  <p:sldIdLst>
    <p:sldId id="308" r:id="rId2"/>
    <p:sldId id="258" r:id="rId3"/>
    <p:sldId id="260" r:id="rId4"/>
    <p:sldId id="261" r:id="rId5"/>
    <p:sldId id="262" r:id="rId6"/>
    <p:sldId id="264" r:id="rId7"/>
    <p:sldId id="265" r:id="rId8"/>
    <p:sldId id="292" r:id="rId9"/>
    <p:sldId id="286" r:id="rId10"/>
    <p:sldId id="295" r:id="rId11"/>
    <p:sldId id="302" r:id="rId12"/>
    <p:sldId id="303" r:id="rId13"/>
    <p:sldId id="304" r:id="rId14"/>
    <p:sldId id="305" r:id="rId15"/>
    <p:sldId id="306" r:id="rId16"/>
    <p:sldId id="307" r:id="rId17"/>
    <p:sldId id="285" r:id="rId18"/>
  </p:sldIdLst>
  <p:sldSz cx="12192000" cy="6858000"/>
  <p:notesSz cx="6858000" cy="9144000"/>
  <p:embeddedFontLst>
    <p:embeddedFont>
      <p:font typeface="Arial Black" panose="020B0A04020102020204" pitchFamily="34" charset="0"/>
      <p:regular r:id="rId2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Garamond" panose="02020404030301010803" pitchFamily="18" charset="0"/>
      <p:regular r:id="rId26"/>
      <p:bold r:id="rId27"/>
      <p: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9QTfEhVKu0C0EfSExmJltFUBi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718C9B-42BD-457F-8D96-9F64AC1CB8C2}">
  <a:tblStyle styleId="{BC718C9B-42BD-457F-8D96-9F64AC1CB8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5F6"/>
          </a:solidFill>
        </a:fill>
      </a:tcStyle>
    </a:wholeTbl>
    <a:band1H>
      <a:tcTxStyle b="off" i="off"/>
      <a:tcStyle>
        <a:tcBdr/>
        <a:fill>
          <a:solidFill>
            <a:srgbClr val="CBEAEC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BEAEC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206" autoAdjust="0"/>
  </p:normalViewPr>
  <p:slideViewPr>
    <p:cSldViewPr snapToGrid="0" showGuides="1">
      <p:cViewPr varScale="1">
        <p:scale>
          <a:sx n="90" d="100"/>
          <a:sy n="90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0689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e7f7290842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1e7f7290842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58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0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57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576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454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33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78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549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94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4203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8689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9466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55666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6793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058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01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B370-A588-413C-A591-5C422DD7F9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World Development Measurement</a:t>
            </a:r>
            <a:endParaRPr lang="en-IN" sz="3000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2756E-A788-46F1-836F-C1BB2E5407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group-2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578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3600"/>
              <a:buFont typeface="Arial Black"/>
              <a:buNone/>
            </a:pPr>
            <a:r>
              <a:rPr lang="en-US" sz="3600" dirty="0">
                <a:solidFill>
                  <a:srgbClr val="1482AB"/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Objective: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4"/>
          <p:cNvSpPr txBox="1">
            <a:spLocks noGrp="1"/>
          </p:cNvSpPr>
          <p:nvPr>
            <p:ph idx="1"/>
          </p:nvPr>
        </p:nvSpPr>
        <p:spPr>
          <a:xfrm>
            <a:off x="1150443" y="2494129"/>
            <a:ext cx="9375790" cy="192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9144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1600" dirty="0">
                <a:effectLst/>
                <a:ea typeface="Arial" panose="020B0604020202020204" pitchFamily="34" charset="0"/>
              </a:rPr>
              <a:t>Creating clusters on the global development measurement dataset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1600" dirty="0">
                <a:effectLst/>
                <a:ea typeface="Arial" panose="020B0604020202020204" pitchFamily="34" charset="0"/>
              </a:rPr>
              <a:t>The dataset has information about important economic and development metrics related to various countries across the globe.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IN" sz="1600" dirty="0">
              <a:effectLst/>
              <a:ea typeface="Arial" panose="020B0604020202020204" pitchFamily="34" charset="0"/>
            </a:endParaRPr>
          </a:p>
          <a:p>
            <a:pPr marL="91440" lvl="0" indent="-9144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endParaRPr lang="en-US" sz="2400" b="1" dirty="0">
              <a:solidFill>
                <a:srgbClr val="1482AB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 idx="4294967295"/>
          </p:nvPr>
        </p:nvSpPr>
        <p:spPr>
          <a:xfrm>
            <a:off x="0" y="495300"/>
            <a:ext cx="10058400" cy="103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3600"/>
              <a:buFont typeface="Arial Black"/>
              <a:buNone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        Project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Flow:</a:t>
            </a:r>
            <a:endParaRPr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7" name="Google Shape;127;p5"/>
          <p:cNvGrpSpPr/>
          <p:nvPr/>
        </p:nvGrpSpPr>
        <p:grpSpPr>
          <a:xfrm>
            <a:off x="1182423" y="2004173"/>
            <a:ext cx="8614690" cy="3569984"/>
            <a:chOff x="421291" y="750971"/>
            <a:chExt cx="9512612" cy="295362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32" name="Google Shape;132;p5"/>
            <p:cNvSpPr/>
            <p:nvPr/>
          </p:nvSpPr>
          <p:spPr>
            <a:xfrm>
              <a:off x="671469" y="801006"/>
              <a:ext cx="9262434" cy="400283"/>
            </a:xfrm>
            <a:prstGeom prst="rect">
              <a:avLst/>
            </a:prstGeom>
            <a:grpFill/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 txBox="1"/>
            <p:nvPr/>
          </p:nvSpPr>
          <p:spPr>
            <a:xfrm>
              <a:off x="671469" y="801006"/>
              <a:ext cx="9262434" cy="4002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317725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Dataset Understanding</a:t>
              </a:r>
              <a:endParaRPr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421292" y="750971"/>
              <a:ext cx="500353" cy="500353"/>
            </a:xfrm>
            <a:prstGeom prst="ellipse">
              <a:avLst/>
            </a:prstGeom>
            <a:grpFill/>
            <a:ln w="15875" cap="flat" cmpd="sng">
              <a:solidFill>
                <a:srgbClr val="258B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870113" y="1401343"/>
              <a:ext cx="9063790" cy="400283"/>
            </a:xfrm>
            <a:prstGeom prst="rect">
              <a:avLst/>
            </a:prstGeom>
            <a:grpFill/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870113" y="1401343"/>
              <a:ext cx="9063790" cy="4002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317725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EDA process</a:t>
              </a:r>
              <a:endParaRPr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619936" y="1351307"/>
              <a:ext cx="500353" cy="500353"/>
            </a:xfrm>
            <a:prstGeom prst="ellipse">
              <a:avLst/>
            </a:prstGeom>
            <a:grpFill/>
            <a:ln w="15875" cap="flat" cmpd="sng">
              <a:solidFill>
                <a:srgbClr val="2596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933538" y="2002120"/>
              <a:ext cx="9000365" cy="400283"/>
            </a:xfrm>
            <a:prstGeom prst="rect">
              <a:avLst/>
            </a:prstGeom>
            <a:grpFill/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933538" y="2002120"/>
              <a:ext cx="9000365" cy="4002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317725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Feature</a:t>
              </a:r>
              <a:r>
                <a:rPr lang="en-US" sz="2000" b="1" i="0" u="none" strike="noStrike" cap="none">
                  <a:solidFill>
                    <a:srgbClr val="002776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Engineering</a:t>
              </a:r>
              <a:endPara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683361" y="1952085"/>
              <a:ext cx="500353" cy="500353"/>
            </a:xfrm>
            <a:prstGeom prst="ellipse">
              <a:avLst/>
            </a:prstGeom>
            <a:grpFill/>
            <a:ln w="15875" cap="flat" cmpd="sng">
              <a:solidFill>
                <a:srgbClr val="25A1C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70113" y="2602897"/>
              <a:ext cx="9063790" cy="400283"/>
            </a:xfrm>
            <a:prstGeom prst="rect">
              <a:avLst/>
            </a:prstGeom>
            <a:grpFill/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870113" y="2602897"/>
              <a:ext cx="9063790" cy="4002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317725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 Building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619936" y="2552862"/>
              <a:ext cx="500353" cy="500353"/>
            </a:xfrm>
            <a:prstGeom prst="ellipse">
              <a:avLst/>
            </a:prstGeom>
            <a:grpFill/>
            <a:ln w="15875" cap="flat" cmpd="sng">
              <a:solidFill>
                <a:srgbClr val="25AC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799737" y="3294052"/>
              <a:ext cx="9134166" cy="4002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317725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Deployment</a:t>
              </a:r>
              <a:endParaRPr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421291" y="3204239"/>
              <a:ext cx="500353" cy="500353"/>
            </a:xfrm>
            <a:prstGeom prst="ellipse">
              <a:avLst/>
            </a:prstGeom>
            <a:grpFill/>
            <a:ln w="15875" cap="flat" cmpd="sng">
              <a:solidFill>
                <a:srgbClr val="26C3C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3600"/>
              <a:buFont typeface="Arial Black"/>
              <a:buNone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Data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Set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Details: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Google Shape;155;p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85000" lnSpcReduction="2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dirty="0"/>
              <a:t>The data file contains </a:t>
            </a:r>
            <a:r>
              <a:rPr lang="en-US" b="1" dirty="0"/>
              <a:t>2708</a:t>
            </a:r>
            <a:r>
              <a:rPr lang="en-US" dirty="0"/>
              <a:t> </a:t>
            </a:r>
            <a:r>
              <a:rPr lang="en-US" b="1" dirty="0"/>
              <a:t>observations </a:t>
            </a:r>
            <a:r>
              <a:rPr lang="en-US" dirty="0"/>
              <a:t>with </a:t>
            </a:r>
            <a:r>
              <a:rPr lang="en-US" b="1" dirty="0"/>
              <a:t>25 variables and 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has information about important economic and development metrics related to various countries across the globe.</a:t>
            </a:r>
            <a:endParaRPr lang="en-US" b="1" dirty="0"/>
          </a:p>
          <a:p>
            <a:pPr marL="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b="1" i="1" dirty="0">
                <a:solidFill>
                  <a:srgbClr val="00B0F0"/>
                </a:solidFill>
              </a:rPr>
              <a:t>The variables, or features, are the following:</a:t>
            </a:r>
            <a:endParaRPr b="1" dirty="0">
              <a:solidFill>
                <a:srgbClr val="00B0F0"/>
              </a:solidFill>
            </a:endParaRPr>
          </a:p>
          <a:p>
            <a:pPr lvl="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IN" b="1" dirty="0">
                <a:effectLst/>
                <a:ea typeface="Arial" panose="020B0604020202020204" pitchFamily="34" charset="0"/>
              </a:rPr>
              <a:t>Birth Rate, Business tax, CO2emissions, Country, Days to start a business, Ease of business, energy usage, GDP, </a:t>
            </a:r>
            <a:r>
              <a:rPr lang="en-IN" b="1" dirty="0" err="1">
                <a:effectLst/>
                <a:ea typeface="Arial" panose="020B0604020202020204" pitchFamily="34" charset="0"/>
              </a:rPr>
              <a:t>healthexp%GDP</a:t>
            </a:r>
            <a:r>
              <a:rPr lang="en-IN" b="1" dirty="0">
                <a:effectLst/>
                <a:ea typeface="Arial" panose="020B0604020202020204" pitchFamily="34" charset="0"/>
              </a:rPr>
              <a:t>, </a:t>
            </a:r>
            <a:r>
              <a:rPr lang="en-IN" b="1" dirty="0" err="1">
                <a:effectLst/>
                <a:ea typeface="Arial" panose="020B0604020202020204" pitchFamily="34" charset="0"/>
              </a:rPr>
              <a:t>healthexp</a:t>
            </a:r>
            <a:r>
              <a:rPr lang="en-IN" b="1" dirty="0">
                <a:effectLst/>
                <a:ea typeface="Arial" panose="020B0604020202020204" pitchFamily="34" charset="0"/>
              </a:rPr>
              <a:t>/capita, hours to do tax, infant mortality, internet usage, lending rate, life expectancy female, etc.</a:t>
            </a:r>
            <a:endParaRPr b="1" dirty="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>
            <a:spLocks noGrp="1"/>
          </p:cNvSpPr>
          <p:nvPr>
            <p:ph type="title"/>
          </p:nvPr>
        </p:nvSpPr>
        <p:spPr>
          <a:xfrm>
            <a:off x="1224871" y="1562510"/>
            <a:ext cx="10058400" cy="71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4000"/>
              <a:buFont typeface="Arial Black"/>
              <a:buNone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Data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Set:</a:t>
            </a:r>
            <a:endParaRPr sz="3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Arial Black"/>
              <a:cs typeface="Times New Roman" panose="02020603050405020304" pitchFamily="18" charset="0"/>
              <a:sym typeface="Arial Black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C7E9E6-51E8-4665-83C2-DE9022569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26834" y="2557463"/>
            <a:ext cx="7538332" cy="331787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471F-D62C-415D-B28F-E740315E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392865"/>
            <a:ext cx="9601196" cy="893134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EDA:</a:t>
            </a:r>
            <a:endParaRPr lang="en-IN" sz="3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863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900" dirty="0"/>
              <a:t>In the given dataset the datatype of the observations in each variable are </a:t>
            </a:r>
            <a:r>
              <a:rPr lang="en-US" sz="1900" b="1" dirty="0"/>
              <a:t>floating point datatypes.</a:t>
            </a:r>
            <a:endParaRPr sz="1900" dirty="0"/>
          </a:p>
          <a:p>
            <a:pPr marL="91440" lvl="0" indent="-1186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900" dirty="0"/>
              <a:t>In the data set each feature contains </a:t>
            </a:r>
            <a:r>
              <a:rPr lang="en-US" sz="1900" b="1" dirty="0"/>
              <a:t>null values</a:t>
            </a:r>
            <a:r>
              <a:rPr lang="en-US" sz="1900" dirty="0"/>
              <a:t>.</a:t>
            </a:r>
            <a:endParaRPr sz="1900" dirty="0"/>
          </a:p>
          <a:p>
            <a:pPr marL="91440" lvl="0" indent="-1186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900" dirty="0"/>
              <a:t>There are </a:t>
            </a:r>
            <a:r>
              <a:rPr lang="en-US" sz="1900" b="1" dirty="0"/>
              <a:t>no</a:t>
            </a:r>
            <a:r>
              <a:rPr lang="en-US" sz="1900" dirty="0"/>
              <a:t> </a:t>
            </a:r>
            <a:r>
              <a:rPr lang="en-US" sz="1900" b="1" dirty="0"/>
              <a:t>duplicate observations </a:t>
            </a:r>
            <a:r>
              <a:rPr lang="en-US" sz="1900" dirty="0"/>
              <a:t>present in the dataset.</a:t>
            </a:r>
          </a:p>
          <a:p>
            <a:pPr marL="91440" lvl="0" indent="-1186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900" dirty="0"/>
              <a:t>There are a </a:t>
            </a:r>
            <a:r>
              <a:rPr lang="en-US" sz="1900" b="1" dirty="0"/>
              <a:t>total of 12203 null values </a:t>
            </a:r>
            <a:r>
              <a:rPr lang="en-US" sz="1900" dirty="0"/>
              <a:t>present in the dataset.</a:t>
            </a:r>
            <a:endParaRPr sz="1900" dirty="0"/>
          </a:p>
          <a:p>
            <a:pPr marL="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26762"/>
              <a:buNone/>
            </a:pPr>
            <a:endParaRPr sz="1800" dirty="0"/>
          </a:p>
          <a:p>
            <a:pPr marL="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lang="en-US" sz="3800" dirty="0"/>
          </a:p>
          <a:p>
            <a:pPr marL="9144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/>
          </a:p>
          <a:p>
            <a:pPr marL="9144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/>
          </a:p>
          <a:p>
            <a:pPr marL="9144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336A358-EC96-4CEA-9C7F-387063B84A98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181" name="Google Shape;181;p10"/>
          <p:cNvSpPr txBox="1">
            <a:spLocks noGrp="1"/>
          </p:cNvSpPr>
          <p:nvPr>
            <p:ph type="body" sz="half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9144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Distribution:  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-IN" dirty="0"/>
              <a:t>skewness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BD32A3-9295-4073-B2D2-4F2656FE6A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39"/>
          <a:stretch/>
        </p:blipFill>
        <p:spPr>
          <a:xfrm>
            <a:off x="7453423" y="799651"/>
            <a:ext cx="3904331" cy="52586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87654B-28EB-5A02-34BC-47F08A1C285D}"/>
              </a:ext>
            </a:extLst>
          </p:cNvPr>
          <p:cNvSpPr txBox="1"/>
          <p:nvPr/>
        </p:nvSpPr>
        <p:spPr>
          <a:xfrm>
            <a:off x="773039" y="681877"/>
            <a:ext cx="46267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Visualizing the null values for each attribute with SNS Heatmap.</a:t>
            </a:r>
          </a:p>
          <a:p>
            <a:endParaRPr lang="en-US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Ease of business contains more number of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Population urban having less number of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no missing values in country and population total.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32914-4CCB-5CF8-0FB3-FFE6B7D51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419" y="681877"/>
            <a:ext cx="5730542" cy="549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70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E57004-ED83-41CD-8490-FC9B0D4B86A0}"/>
              </a:ext>
            </a:extLst>
          </p:cNvPr>
          <p:cNvSpPr txBox="1"/>
          <p:nvPr/>
        </p:nvSpPr>
        <p:spPr>
          <a:xfrm>
            <a:off x="703526" y="2258382"/>
            <a:ext cx="405548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</a:p>
          <a:p>
            <a:r>
              <a:rPr lang="en-US" sz="1500" dirty="0">
                <a:cs typeface="Times New Roman" panose="02020603050405020304" pitchFamily="18" charset="0"/>
              </a:rPr>
              <a:t>Distribution plots for each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cs typeface="Times New Roman" panose="02020603050405020304" pitchFamily="18" charset="0"/>
              </a:rPr>
              <a:t>'</a:t>
            </a:r>
            <a:r>
              <a:rPr lang="en-US" sz="1500" dirty="0" err="1">
                <a:cs typeface="Times New Roman" panose="02020603050405020304" pitchFamily="18" charset="0"/>
              </a:rPr>
              <a:t>BusinessTaxRate</a:t>
            </a:r>
            <a:r>
              <a:rPr lang="en-US" sz="1500" dirty="0">
                <a:cs typeface="Times New Roman" panose="02020603050405020304" pitchFamily="18" charset="0"/>
              </a:rPr>
              <a:t>’,  '</a:t>
            </a:r>
            <a:r>
              <a:rPr lang="en-US" sz="1500" dirty="0" err="1">
                <a:cs typeface="Times New Roman" panose="02020603050405020304" pitchFamily="18" charset="0"/>
              </a:rPr>
              <a:t>EaseofBusiness</a:t>
            </a:r>
            <a:r>
              <a:rPr lang="en-US" sz="1500" dirty="0">
                <a:cs typeface="Times New Roman" panose="02020603050405020304" pitchFamily="18" charset="0"/>
              </a:rPr>
              <a:t>', '</a:t>
            </a:r>
            <a:r>
              <a:rPr lang="en-US" sz="1500" dirty="0" err="1">
                <a:cs typeface="Times New Roman" panose="02020603050405020304" pitchFamily="18" charset="0"/>
              </a:rPr>
              <a:t>HealthExpGDP</a:t>
            </a:r>
            <a:r>
              <a:rPr lang="en-US" sz="1500" dirty="0">
                <a:cs typeface="Times New Roman" panose="02020603050405020304" pitchFamily="18" charset="0"/>
              </a:rPr>
              <a:t>’,  '</a:t>
            </a:r>
            <a:r>
              <a:rPr lang="en-US" sz="1500" dirty="0" err="1">
                <a:cs typeface="Times New Roman" panose="02020603050405020304" pitchFamily="18" charset="0"/>
              </a:rPr>
              <a:t>HourstodoTax</a:t>
            </a:r>
            <a:r>
              <a:rPr lang="en-US" sz="1500" dirty="0">
                <a:cs typeface="Times New Roman" panose="02020603050405020304" pitchFamily="18" charset="0"/>
              </a:rPr>
              <a:t>' and 'Population0to14' columns have normal distribution so we replace missing values by mean.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cs typeface="Times New Roman" panose="02020603050405020304" pitchFamily="18" charset="0"/>
              </a:rPr>
              <a:t>And for remaining columns with skewed data we replace missing values by median.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3F0F7-083C-D71D-2121-0D322BFD8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572" y="597588"/>
            <a:ext cx="7097227" cy="569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46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D7AC5-4EC9-5F34-188C-9F47B3B0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587" y="647974"/>
            <a:ext cx="6185044" cy="5582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BC976F-FEE2-17BE-E4CD-72B758E9F904}"/>
              </a:ext>
            </a:extLst>
          </p:cNvPr>
          <p:cNvSpPr txBox="1"/>
          <p:nvPr/>
        </p:nvSpPr>
        <p:spPr>
          <a:xfrm>
            <a:off x="786369" y="2254003"/>
            <a:ext cx="46231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Visualizing Relation between variables:</a:t>
            </a:r>
          </a:p>
          <a:p>
            <a:endParaRPr lang="en-US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'Population 0 to 14' and 'Birth Rate’ have a strong relation. (0.94)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‘ Population 15 to 64’ and ‘Birth Rate’ have a weak relation. (0.90)</a:t>
            </a:r>
          </a:p>
        </p:txBody>
      </p:sp>
    </p:spTree>
    <p:extLst>
      <p:ext uri="{BB962C8B-B14F-4D97-AF65-F5344CB8AC3E}">
        <p14:creationId xmlns:p14="http://schemas.microsoft.com/office/powerpoint/2010/main" val="3095853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DE9852-A6D9-4870-CC30-79907F285D4B}"/>
              </a:ext>
            </a:extLst>
          </p:cNvPr>
          <p:cNvSpPr txBox="1"/>
          <p:nvPr/>
        </p:nvSpPr>
        <p:spPr>
          <a:xfrm>
            <a:off x="702687" y="748344"/>
            <a:ext cx="481404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Scaling is a technique to standardize the independent features present in the data in a fixed range. We do this to make sure all the features are in same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Here we will be using  Standard Scaler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E029E-C65E-21CF-9F45-D1CADEEDB898}"/>
              </a:ext>
            </a:extLst>
          </p:cNvPr>
          <p:cNvSpPr txBox="1"/>
          <p:nvPr/>
        </p:nvSpPr>
        <p:spPr>
          <a:xfrm>
            <a:off x="837158" y="2954947"/>
            <a:ext cx="424927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Technique </a:t>
            </a:r>
            <a:r>
              <a:rPr lang="en-US" sz="2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Looking at the graph we can decide how much percentage we want and accordingly go for that much column numbers.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here, we are taking 15 columns because they are giving more than 95% data.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F49C5-39A4-474B-A660-76075FEB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019" y="1796007"/>
            <a:ext cx="5134547" cy="326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92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C87C7C-0A2D-4B35-90EC-0B650532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05" y="735502"/>
            <a:ext cx="9081974" cy="48471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Model building :</a:t>
            </a:r>
            <a:endParaRPr lang="en-IN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D94F7-8768-4694-BB69-A636711F4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304" y="1220218"/>
            <a:ext cx="10283453" cy="490227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Techniques used 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Means, DBSCAN, Hierarchical.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Metric: 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PCA for visualization.</a:t>
            </a:r>
          </a:p>
          <a:p>
            <a:endParaRPr lang="en-IN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Clustering with scaled data:</a:t>
            </a:r>
          </a:p>
          <a:p>
            <a:r>
              <a:rPr lang="en-US" sz="1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1400" dirty="0"/>
              <a:t>Visualized with Dendrogram and Scatter plot.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Scaled Data got a silhouette score - 0.4069002367119094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DE851-F6E5-49F1-A72B-02E610009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107" y="781360"/>
            <a:ext cx="4942365" cy="2595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D80C4-D9EB-4F8A-ABA0-C4CEAF1BC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01" y="3481579"/>
            <a:ext cx="4846771" cy="265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10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0FB7-F3A9-4A9C-AF2E-6178B5129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69" y="884358"/>
            <a:ext cx="5594496" cy="1468800"/>
          </a:xfrm>
        </p:spPr>
        <p:txBody>
          <a:bodyPr>
            <a:normAutofit/>
          </a:bodyPr>
          <a:lstStyle/>
          <a:p>
            <a:r>
              <a:rPr lang="en-US" sz="1600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 on PCA Data:</a:t>
            </a:r>
            <a:br>
              <a:rPr lang="en-US" sz="1600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/>
              <a:t>By seeing the elbow curve considering 3 clusters.</a:t>
            </a:r>
            <a:br>
              <a:rPr lang="en-US" sz="1300" dirty="0"/>
            </a:br>
            <a:r>
              <a:rPr lang="en-US" sz="1300" dirty="0"/>
              <a:t>K Means with 4 Clusters we got silhouette score - 0.38589504828738286</a:t>
            </a:r>
            <a:br>
              <a:rPr lang="en-US" sz="1300" dirty="0"/>
            </a:br>
            <a:r>
              <a:rPr lang="en-US" sz="1300" dirty="0"/>
              <a:t>K Means with Clusters we got silhouette score -0.4592576382823015</a:t>
            </a:r>
            <a:br>
              <a:rPr lang="en-US" sz="1300" dirty="0"/>
            </a:br>
            <a:endParaRPr lang="en-IN" sz="13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BB11D-920F-4A70-852D-9995A45D9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569" y="3428999"/>
            <a:ext cx="6583324" cy="2195623"/>
          </a:xfrm>
        </p:spPr>
        <p:txBody>
          <a:bodyPr>
            <a:normAutofit fontScale="85000" lnSpcReduction="10000"/>
          </a:bodyPr>
          <a:lstStyle/>
          <a:p>
            <a:r>
              <a:rPr lang="en-US" sz="1900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with PCA Data – 3 clusters:</a:t>
            </a:r>
          </a:p>
          <a:p>
            <a:endParaRPr lang="en-US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r>
              <a:rPr lang="en-US" sz="1700" dirty="0"/>
              <a:t>By seeing the above elbow curve considering 3 clusters.</a:t>
            </a:r>
          </a:p>
          <a:p>
            <a:r>
              <a:rPr lang="en-US" sz="1700" dirty="0"/>
              <a:t>K Means with PCA Data - 2 Clusters we got silhouette score -0.4349454775483713</a:t>
            </a:r>
          </a:p>
          <a:p>
            <a:endParaRPr lang="en-US" sz="1700" dirty="0"/>
          </a:p>
          <a:p>
            <a:r>
              <a:rPr lang="en-US" sz="1700" dirty="0"/>
              <a:t>K Means with PCA data - 4Clusters we got silhouette score -0.3016847742272087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5B49D-9A00-4952-80B3-B855BFA40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162" y="682362"/>
            <a:ext cx="3839111" cy="2474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702272-61B9-4FF1-98FB-57C99E0DB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893" y="3302471"/>
            <a:ext cx="3752381" cy="28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71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11731-67E5-420F-B525-4EEDFDBC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49" y="754912"/>
            <a:ext cx="9739423" cy="1701210"/>
          </a:xfrm>
        </p:spPr>
        <p:txBody>
          <a:bodyPr>
            <a:normAutofit fontScale="90000"/>
          </a:bodyPr>
          <a:lstStyle/>
          <a:p>
            <a:r>
              <a:rPr lang="en-US" sz="2000" u="sng" dirty="0">
                <a:solidFill>
                  <a:schemeClr val="accent1">
                    <a:lumMod val="50000"/>
                  </a:schemeClr>
                </a:solidFill>
                <a:latin typeface="Time new roman"/>
              </a:rPr>
              <a:t>DBSCAN</a:t>
            </a:r>
            <a:b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 new roman"/>
              </a:rPr>
            </a:br>
            <a:r>
              <a:rPr lang="en-US" sz="1400" dirty="0"/>
              <a:t>Calculated distance by using the nearest neighbors method.</a:t>
            </a:r>
            <a:br>
              <a:rPr lang="en-US" sz="1400" dirty="0"/>
            </a:br>
            <a:r>
              <a:rPr lang="en-US" sz="1400" dirty="0"/>
              <a:t>DBSCAN with Original Data - we got silhouette score -0.230808</a:t>
            </a:r>
            <a:br>
              <a:rPr lang="en-US" sz="1400" dirty="0"/>
            </a:br>
            <a:r>
              <a:rPr lang="en-US" sz="1400" dirty="0"/>
              <a:t>DBSCAN with PCA Data - we got silhouette score -0.291135</a:t>
            </a:r>
            <a:br>
              <a:rPr lang="en-US" sz="1400" dirty="0"/>
            </a:br>
            <a:br>
              <a:rPr lang="en-US" sz="1400" dirty="0">
                <a:solidFill>
                  <a:schemeClr val="accent1">
                    <a:lumMod val="50000"/>
                  </a:schemeClr>
                </a:solidFill>
                <a:latin typeface="Time new roman"/>
              </a:rPr>
            </a:br>
            <a:b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 new roman"/>
              </a:rPr>
            </a:br>
            <a:b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 new roman"/>
              </a:rPr>
            </a:br>
            <a:endParaRPr lang="en-IN" sz="1700" dirty="0">
              <a:solidFill>
                <a:schemeClr val="accent1">
                  <a:lumMod val="50000"/>
                </a:schemeClr>
              </a:solidFill>
              <a:latin typeface="Time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9A670-2DF6-4971-869C-9739258B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20" y="1924493"/>
            <a:ext cx="4423457" cy="3305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336F74-85A8-4D49-8456-6649B9D44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408" y="1924494"/>
            <a:ext cx="4862538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30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7F10-D755-4B0B-AAFA-076D5E9CA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100" y="1011949"/>
            <a:ext cx="8305798" cy="551037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US" sz="2000" dirty="0"/>
              <a:t>Deployment:</a:t>
            </a:r>
            <a:endParaRPr lang="en-IN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827A6-6A46-4D55-8455-638A1B541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0165" y="1562987"/>
            <a:ext cx="9411584" cy="2126390"/>
          </a:xfrm>
        </p:spPr>
        <p:txBody>
          <a:bodyPr>
            <a:normAutofit fontScale="77500" lnSpcReduction="2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final clustering application is deployed on a user-friendly platform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deployed application will provide an interactive way for stakeholders to: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clusters and the countries within them.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defining characteristics of each cluster.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actionable insights from the data in real-time.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58CCB2-810D-441C-8190-5E7CDD8CC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06" y="3604317"/>
            <a:ext cx="9487342" cy="249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40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B19D-E07B-4247-BE21-125B1C6D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Learnings:                                                   Future scope: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B60AB-B6CA-494F-928C-9DB1177485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insights into preprocessing socio-economic datasets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strong correlations among key development indicators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application of clustering algorithms on real-world data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evaluate clustering performance using silhouette score and visualization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2042C4-BE46-4B71-BBFF-74C71F231A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analysis with time-series development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environmental and governance indicators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advanced clustering (Gaussian Mixture Models, Spectral Clustering)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supervised ML models for predictive analysis of country development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351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e7f7290842_2_19"/>
          <p:cNvSpPr txBox="1">
            <a:spLocks noGrp="1"/>
          </p:cNvSpPr>
          <p:nvPr>
            <p:ph type="ctrTitle"/>
          </p:nvPr>
        </p:nvSpPr>
        <p:spPr>
          <a:xfrm>
            <a:off x="3708600" y="2508925"/>
            <a:ext cx="4446572" cy="14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3600"/>
              <a:buNone/>
            </a:pPr>
            <a:r>
              <a:rPr lang="en-US" sz="6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Thank You</a:t>
            </a:r>
            <a:endParaRPr sz="6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Arial Black"/>
              <a:cs typeface="Times New Roman" panose="02020603050405020304" pitchFamily="18" charset="0"/>
              <a:sym typeface="Arial Black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924</TotalTime>
  <Words>718</Words>
  <Application>Microsoft Office PowerPoint</Application>
  <PresentationFormat>Widescreen</PresentationFormat>
  <Paragraphs>87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Times New Roman</vt:lpstr>
      <vt:lpstr>Noto Sans Symbols</vt:lpstr>
      <vt:lpstr>Arial Black</vt:lpstr>
      <vt:lpstr>Calibri</vt:lpstr>
      <vt:lpstr>Time new roman</vt:lpstr>
      <vt:lpstr>Wingdings</vt:lpstr>
      <vt:lpstr>Garamond</vt:lpstr>
      <vt:lpstr>Organic</vt:lpstr>
      <vt:lpstr>World Development Measurement</vt:lpstr>
      <vt:lpstr>Objective:</vt:lpstr>
      <vt:lpstr>        Project Flow:</vt:lpstr>
      <vt:lpstr>Data Set Details: </vt:lpstr>
      <vt:lpstr>Data Set:</vt:lpstr>
      <vt:lpstr>EDA: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building :</vt:lpstr>
      <vt:lpstr>K-Means clustering on PCA Data:  By seeing the elbow curve considering 3 clusters. K Means with 4 Clusters we got silhouette score - 0.38589504828738286 K Means with Clusters we got silhouette score -0.4592576382823015 </vt:lpstr>
      <vt:lpstr>DBSCAN Calculated distance by using the nearest neighbors method. DBSCAN with Original Data - we got silhouette score -0.230808 DBSCAN with PCA Data - we got silhouette score -0.291135    </vt:lpstr>
      <vt:lpstr>Deployment:</vt:lpstr>
      <vt:lpstr>    Learnings:                                                   Future scope:  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Production In A Combined-cycle Power Plant</dc:title>
  <dc:creator>JAYSHREE BHOYAR</dc:creator>
  <cp:lastModifiedBy>sowmyavenkat927@gmail.com</cp:lastModifiedBy>
  <cp:revision>33</cp:revision>
  <dcterms:created xsi:type="dcterms:W3CDTF">2023-08-26T06:19:39Z</dcterms:created>
  <dcterms:modified xsi:type="dcterms:W3CDTF">2025-11-06T08:24:18Z</dcterms:modified>
</cp:coreProperties>
</file>